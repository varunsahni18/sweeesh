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One-sentence thesis. Lead with the badge idea; do not explain crypto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founder's own resume. The point is that even a strong resume is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 from Sweesh Business Summary: screening $30-100/candidate, employment verification $20-65.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one to internalise: any flow that asks someone to answer later will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pillars. Emphasise pillar 2 — it is the whole idea and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recursive-authority walk. Two chains: education and employment. Emphasise scope narrowing.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demo. Resume at centre, people who were there on the left, institutions/registers/roots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verifiers (Equifax, Truework, Checkr) sit low on privacy; credential platforms (Credly) are shallow. Sweesh is alone top-right.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First Advantage market presentation, via Sweesh Business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Conservative $4M / base $13M / strong $34M year-five scenarios. Valuation 6-10x ARR declining to 5-8x.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Closest competitor is Velocity Network; our differentiator is verifying delegated authority + private chain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Differentiation is scope, not coverage. Acknowledge the manager-reference risk up front — it reads as competence.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checkpoint is end of week 2, not week 5. The adversarial suite (12 vectors) is the credibility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one-liner.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170432"/>
            <a:ext cx="822960" cy="685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D399"/>
                </a:solidFill>
                <a:latin typeface="Helvetica Neue"/>
              </a:rPr>
              <a:t>SWEESH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Helvetica Neue"/>
              </a:rPr>
              <a:t>Every line of a resume,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34D399"/>
                </a:solidFill>
                <a:latin typeface="Helvetica Neue"/>
              </a:rPr>
              <a:t>checkable.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8A2B3"/>
                </a:solidFill>
                <a:latin typeface="Helvetica Neue"/>
              </a:rPr>
              <a:t>Sweesh is a chain of custody for facts about a person — portable as one badge, verifiable end to end, revealing nothing beyond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8A2B3"/>
                </a:solidFill>
                <a:latin typeface="Helvetica Neue"/>
              </a:rPr>
              <a:t>Investor presentation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THE PROBLEM — WHAT WE HAVE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Today, a career is an unverified document.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An employer takes it on faith — or pays a screening firm to phone it in by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148840"/>
            <a:ext cx="4590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72A"/>
                </a:solidFill>
                <a:latin typeface="Helvetica Neue"/>
              </a:rPr>
              <a:t>Nothing here is signed.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41448"/>
            <a:ext cx="4590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Helvetica Neue"/>
              </a:rPr>
              <a:t>Every line is self-asserted. No registrar, no HR system, no manager has vouched for any of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8541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447288"/>
            <a:ext cx="4590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72A"/>
                </a:solidFill>
                <a:latin typeface="Helvetica Neue"/>
              </a:rPr>
              <a:t>The proof already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739896"/>
            <a:ext cx="4590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Helvetica Neue"/>
              </a:rPr>
              <a:t>It sits in a registrar's transcript, an HRIS record, an old manager's memory — disconnected, never asked.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8386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745736"/>
            <a:ext cx="4590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72A"/>
                </a:solidFill>
                <a:latin typeface="Helvetica Neue"/>
              </a:rPr>
              <a:t>It all forgets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038344"/>
            <a:ext cx="459028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Helvetica Neue"/>
              </a:rPr>
              <a:t>Each system loses interest in you the day you leave — which is exactly the day you need it to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82312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55774" y="1463039"/>
            <a:ext cx="3939401" cy="506577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638" y="1517904"/>
            <a:ext cx="3829673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THE PROBLEM — THE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Verification is slow, manual, and expensive.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And the cost sits on the party who captures none of the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871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F172A"/>
                </a:solidFill>
                <a:latin typeface="Helvetica Neue"/>
              </a:rPr>
              <a:t>$30–100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10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per 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703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8A2B3"/>
                </a:solidFill>
                <a:latin typeface="Helvetica Neue"/>
              </a:rPr>
              <a:t>background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19456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4871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F172A"/>
                </a:solidFill>
                <a:latin typeface="Helvetica Neue"/>
              </a:rPr>
              <a:t>~3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310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of phone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703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8A2B3"/>
                </a:solidFill>
                <a:latin typeface="Helvetica Neue"/>
              </a:rPr>
              <a:t>registrar · HR · old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194560"/>
            <a:ext cx="3566160" cy="2148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487168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F172A"/>
                </a:solidFill>
                <a:latin typeface="Helvetica Neue"/>
              </a:rPr>
              <a:t>$20–65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31012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per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703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8A2B3"/>
                </a:solidFill>
                <a:latin typeface="Helvetica Neue"/>
              </a:rPr>
              <a:t>employment / income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Helvetica Neue"/>
              </a:rPr>
              <a:t>The employer wants the answer. </a:t>
            </a:r>
            <a:r>
              <a:rPr sz="1500" b="0" i="0">
                <a:solidFill>
                  <a:srgbClr val="5B6472"/>
                </a:solidFill>
                <a:latin typeface="Helvetica Neue"/>
              </a:rPr>
              <a:t>The registrar or HR team produces it, gets paid nothing, and carries the liability. That asymmetry — not a missing technology — is why this has stayed broken.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THE PROBLEM — WHY IT PERSISTS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Four gaps define our opening.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1091672" cy="969264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6654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72A"/>
                </a:solidFill>
                <a:latin typeface="Helvetica Neue"/>
              </a:rPr>
              <a:t>Payroll knows dates, not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1031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Helvetica Neue"/>
              </a:rPr>
              <a:t>Payroll systems record titles and dates, nothing about what you did.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10312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Manager attestations under delegated authority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35808"/>
            <a:ext cx="11091672" cy="969264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8211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72A"/>
                </a:solidFill>
                <a:latin typeface="Helvetica Neue"/>
              </a:rPr>
              <a:t>Credentials verify, issuers do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21868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Helvetica Neue"/>
              </a:rPr>
              <a:t>Blockcerts checks the document — not that the issuer is a real, accredited institution.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218688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Recursive authority chains to a verifier-chosen root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51376"/>
            <a:ext cx="11091672" cy="969264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72A"/>
                </a:solidFill>
                <a:latin typeface="Helvetica Neue"/>
              </a:rPr>
              <a:t>Verification costs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33425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Helvetica Neue"/>
              </a:rPr>
              <a:t>Answering a query means revealing the record — and callbacks tell the issuer where you applied.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334256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Selective disclosure + zero-knowledge path proofs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66944"/>
            <a:ext cx="11091672" cy="969264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1324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172A"/>
                </a:solidFill>
                <a:latin typeface="Helvetica Neue"/>
              </a:rPr>
              <a:t>Records die with the relationship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544982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Helvetica Neue"/>
              </a:rPr>
              <a:t>Your work email stops working the day you leave — the day you need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9824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Issue once at the moment of truth, prove for life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Helvetica Neue"/>
              </a:rP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Helvetica Neue"/>
              </a:rPr>
              <a:t>No resume. One badge.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Every fact is signed once, </a:t>
            </a:r>
            <a:r>
              <a:rPr sz="2200" b="1" i="0">
                <a:solidFill>
                  <a:srgbClr val="34D399"/>
                </a:solidFill>
                <a:latin typeface="Helvetica Neue"/>
              </a:rPr>
              <a:t>at the moment it becomes true</a:t>
            </a:r>
            <a:r>
              <a:rPr sz="2200" b="1" i="0">
                <a:solidFill>
                  <a:srgbClr val="FFFFFF"/>
                </a:solidFill>
                <a:latin typeface="Helvetica Neue"/>
              </a:rPr>
              <a:t> — by the only party who could have known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8A2B3"/>
                </a:solidFill>
                <a:latin typeface="Helvetica Neue"/>
              </a:rPr>
              <a:t>The person collects those statements and sends one link carrying only what they choose to reveal. No callback. No phone call. No resume.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101B33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892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Issue at the moment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32180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8A2B3"/>
                </a:solidFill>
                <a:latin typeface="Helvetica Neue"/>
              </a:rPr>
              <a:t>The university signs the degree when it confers it. HR signs the dates at hire and at departure.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42976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101B33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4892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Verify the signers, not just the 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532180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8A2B3"/>
                </a:solidFill>
                <a:latin typeface="Helvetica Neue"/>
              </a:rPr>
              <a:t>A signature means nothing unless you know who signed. Sweesh records authority the same way it records 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42976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101B33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4892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Reveal nothing beyond the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532180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8A2B3"/>
                </a:solidFill>
                <a:latin typeface="Helvetica Neue"/>
              </a:rPr>
              <a:t>The employer learns the claim is backed by a root they trust — not who signed it, or anything not deliberately 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THE ANSWER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Every claim walks to a root the verifier chose.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Each arrow is an accreditation. If any link is missing, unverifiable, expired, or revoked — the claim does not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369A1"/>
                </a:solidFill>
                <a:latin typeface="Helvetica Neue"/>
              </a:rPr>
              <a:t>EDUCATION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057400" cy="868680"/>
          </a:xfrm>
          <a:prstGeom prst="roundRect">
            <a:avLst>
              <a:gd name="adj" fmla="val 16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US Dept of Education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root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40" y="2628900"/>
            <a:ext cx="228600" cy="18288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286000"/>
            <a:ext cx="2057400" cy="86868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Accreditor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MSCHE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262890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2286000"/>
            <a:ext cx="2057400" cy="86868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University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New York University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78040" y="262890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2286000"/>
            <a:ext cx="2057400" cy="86868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Registrar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degree conferred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628900"/>
            <a:ext cx="228600" cy="18288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2286000"/>
            <a:ext cx="2057400" cy="86868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Degree claim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59669"/>
                </a:solidFill>
                <a:latin typeface="Helvetica Neue"/>
              </a:rPr>
              <a:t>EMPLOYMENT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96512"/>
            <a:ext cx="2121408" cy="868680"/>
          </a:xfrm>
          <a:prstGeom prst="roundRect">
            <a:avLst>
              <a:gd name="adj" fmla="val 16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Company register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root · Companies House / SoS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70048" y="4439412"/>
            <a:ext cx="292608" cy="182880"/>
          </a:xfrm>
          <a:prstGeom prst="right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62656" y="4096512"/>
            <a:ext cx="2121408" cy="86868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Employer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Qualcomm · delegates authority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1" y="3767328"/>
            <a:ext cx="2194560" cy="713232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Helvetica Neue"/>
              </a:rPr>
              <a:t>HR system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Helvetica Neue"/>
              </a:rPr>
              <a:t>dates · title ·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8111" y="4626864"/>
            <a:ext cx="2194560" cy="713232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Helvetica Neue"/>
              </a:rPr>
              <a:t>Manager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Helvetica Neue"/>
              </a:rPr>
              <a:t>work contribution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20639" y="4114800"/>
            <a:ext cx="384048" cy="146304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120639" y="4974336"/>
            <a:ext cx="384048" cy="146304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08975" y="4096512"/>
            <a:ext cx="1920240" cy="86868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Helvetica Neue"/>
              </a:rPr>
              <a:t>Work claim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Helvetica Neue"/>
              </a:rPr>
              <a:t>signed, private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43215" y="4206240"/>
            <a:ext cx="402336" cy="146304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443215" y="4974336"/>
            <a:ext cx="402336" cy="146304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Helvetica Neue"/>
              </a:rPr>
              <a:t>Scope only ever narrows. </a:t>
            </a:r>
            <a:r>
              <a:rPr sz="1300" b="0" i="0">
                <a:solidFill>
                  <a:srgbClr val="5B6472"/>
                </a:solidFill>
                <a:latin typeface="Helvetica Neue"/>
              </a:rPr>
              <a:t>HR grants the manager authority but never sees what the manager writes — so your old employer cannot read what your manager said about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Helvetica Neue"/>
              </a:rPr>
              <a:t>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Helvetica Neue"/>
              </a:rPr>
              <a:t>Who verified what.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4072" y="1499616"/>
            <a:ext cx="8023549" cy="40233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936" y="1554480"/>
            <a:ext cx="7913821" cy="39136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6235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5412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Authoritative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779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Helvetica Neue"/>
              </a:rPr>
              <a:t>complete chain to a root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6235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55412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Corroborative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779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Helvetica Neue"/>
              </a:rPr>
              <a:t>N peers agree — a count, never a tick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6235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55412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Self-asserted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5779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Helvetica Neue"/>
              </a:rPr>
              <a:t>their own statement, bound to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562356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55412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Withheld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5779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Helvetica Neue"/>
              </a:rPr>
              <a:t>exists, deliberately not disclosed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8A2B3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MARKET —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We sit where nobody else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2646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Holder control &amp; privacy on one axis, depth of career evidence on the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3742" y="1728216"/>
            <a:ext cx="7204210" cy="4224528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sitionin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606" y="1783080"/>
            <a:ext cx="7094482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72A"/>
                </a:solidFill>
                <a:latin typeface="Helvetica Neue"/>
              </a:rPr>
              <a:t>The portable-trust corner. </a:t>
            </a:r>
            <a:r>
              <a:rPr sz="1350" b="0" i="0">
                <a:solidFill>
                  <a:srgbClr val="5B6472"/>
                </a:solidFill>
                <a:latin typeface="Helvetica Neue"/>
              </a:rPr>
              <a:t>Delegated authority + private chain proof + contribution-level claims — the only player with all three.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MARKET — SIZE &amp;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A large, growing market.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4206240" cy="4114800"/>
          </a:xfrm>
          <a:prstGeom prst="roundRect">
            <a:avLst>
              <a:gd name="adj" fmla="val 10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Helvetica Neue"/>
              </a:rPr>
              <a:t>$24B+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8A2B3"/>
                </a:solidFill>
                <a:latin typeface="Helvetica Neue"/>
              </a:rPr>
              <a:t>adjacent market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8A2B3"/>
                </a:solidFill>
                <a:latin typeface="Helvetica Neue"/>
              </a:rPr>
              <a:t>Background screening $14B + digital identity $10B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297680"/>
            <a:ext cx="3566160" cy="182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2628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4D399"/>
                </a:solidFill>
                <a:latin typeface="Helvetica Neue"/>
              </a:rPr>
              <a:t>$43–48B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74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8A2B3"/>
                </a:solidFill>
                <a:latin typeface="Helvetica Neue"/>
              </a:rPr>
              <a:t>by 2031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8A2B3"/>
                </a:solidFill>
                <a:latin typeface="Helvetica Neue"/>
              </a:rPr>
              <a:t>screening +6–7%/yr · digital identity +15–18%/yr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11680"/>
            <a:ext cx="1499616" cy="402336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208483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011680"/>
            <a:ext cx="1911095" cy="402336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084831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Players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011680"/>
            <a:ext cx="1636776" cy="402336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2084831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Provide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011680"/>
            <a:ext cx="1298448" cy="402336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0152" y="2084831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Pay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2487168"/>
            <a:ext cx="1499616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2560320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Helvetica Neue"/>
              </a:rPr>
              <a:t>Employment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487168"/>
            <a:ext cx="1911095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2560320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Equifax, Truework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487168"/>
            <a:ext cx="1636776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560320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Dates, title, income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2487168"/>
            <a:ext cx="1298448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0152" y="2560320"/>
            <a:ext cx="11704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$20–65 / check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74920" y="2962656"/>
            <a:ext cx="1499616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48072" y="3035808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Helvetica Neue"/>
              </a:rPr>
              <a:t>Background screening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2962656"/>
            <a:ext cx="191109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3035808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First Advantage, Checkr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2962656"/>
            <a:ext cx="1636776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3035808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Criminal, employment, edu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87000" y="2962656"/>
            <a:ext cx="129844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0152" y="3035808"/>
            <a:ext cx="11704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$30–100 / candidate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3438144"/>
            <a:ext cx="1499616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48072" y="351129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Helvetica Neue"/>
              </a:rPr>
              <a:t>Digital credentials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3438144"/>
            <a:ext cx="1911095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02552" y="3511296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Credly, Accredible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438144"/>
            <a:ext cx="1636776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68512" y="3511296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Diplomas, badges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87000" y="3438144"/>
            <a:ext cx="1298448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60152" y="3511296"/>
            <a:ext cx="11704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Issuer subscription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3913632"/>
            <a:ext cx="1499616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986784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Helvetica Neue"/>
              </a:rPr>
              <a:t>Career networks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3913632"/>
            <a:ext cx="1911095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02552" y="3986784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Velocity Network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3913632"/>
            <a:ext cx="1636776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68512" y="3986784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Career wallet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87000" y="3913632"/>
            <a:ext cx="1298448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60152" y="3986784"/>
            <a:ext cx="11704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Network / tx fees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74920" y="4389120"/>
            <a:ext cx="1499616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48072" y="446227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172A"/>
                </a:solidFill>
                <a:latin typeface="Helvetica Neue"/>
              </a:rPr>
              <a:t>Credential infra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29400" y="4389120"/>
            <a:ext cx="1911095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02552" y="4462272"/>
            <a:ext cx="1783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SpruceID, Truvera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95360" y="4389120"/>
            <a:ext cx="1636776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68512" y="4462272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Issuance, wallets, APIs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87000" y="4389120"/>
            <a:ext cx="1298448" cy="475488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60152" y="4462272"/>
            <a:ext cx="117043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472"/>
                </a:solidFill>
                <a:latin typeface="Helvetica Neue"/>
              </a:rPr>
              <a:t>Licence +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MARKET — REVENUE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From hackathon demo to $13.2M.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24735" y="1682495"/>
            <a:ext cx="8742224" cy="433425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venue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599" y="1737360"/>
            <a:ext cx="8632496" cy="4224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72A"/>
                </a:solidFill>
                <a:latin typeface="Helvetica Neue"/>
              </a:rPr>
              <a:t>Base case: </a:t>
            </a:r>
            <a:r>
              <a:rPr sz="1200" b="0" i="0">
                <a:solidFill>
                  <a:srgbClr val="5B6472"/>
                </a:solidFill>
                <a:latin typeface="Helvetica Neue"/>
              </a:rPr>
              <a:t>$13M in year five (450 issuers, 200 employer/API customers) · indicative valuation $65–105M. Achievable only with a distribution partner — ATS, HRIS, or staffing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Free for candidates. Issuers and verifiers pay.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1091672" cy="54864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84831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Basic credential issuer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08483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Free – $1.5k / yr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24328"/>
            <a:ext cx="11091672" cy="54864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HR / university issuer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74320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$6k – $15k / 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82696"/>
            <a:ext cx="11091672" cy="54864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01568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Enterprise issuer · HRIS / SIS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40156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$25k – $75k / yr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1063"/>
            <a:ext cx="11091672" cy="54864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59935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Employer verification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059935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$12k – $60k / yr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99431"/>
            <a:ext cx="11091672" cy="54864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18303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Individual badge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718303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$2 – $8 / badge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57799"/>
            <a:ext cx="11091672" cy="548640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76671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F172A"/>
                </a:solidFill>
                <a:latin typeface="Helvetica Neue"/>
              </a:rPr>
              <a:t>ATS / background-screening API 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37667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$50k – $250k / yr + 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Helvetica Neue"/>
              </a:rPr>
              <a:t>Recurring subscriptions + verification fees. </a:t>
            </a:r>
            <a:r>
              <a:rPr sz="1250" b="0" i="0">
                <a:solidFill>
                  <a:srgbClr val="5B6472"/>
                </a:solidFill>
                <a:latin typeface="Helvetica Neue"/>
              </a:rPr>
              <a:t>Not a pure per-check model — reusable credentials naturally reduce repeated checks.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We don't out-cover the incumbent. We out-scope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349240" cy="15544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72A"/>
                </a:solidFill>
                <a:latin typeface="Helvetica Neue"/>
              </a:rPr>
              <a:t>The incumbent: Equifax Work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Helvetica Neue"/>
              </a:rPr>
              <a:t>839M+ employee records, fed automatically through payroll, access sold to verifiers. A copy of most of the American workforce's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65960"/>
            <a:ext cx="5513832" cy="15544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What payroll structurally cannot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4203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F172A"/>
                </a:solidFill>
                <a:latin typeface="Helvetica Neue"/>
              </a:rPr>
              <a:t>Granular work claims · candidate-controlled disclosure · cross-border · verification without paying per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Helvetica Neue"/>
              </a:rPr>
              <a:t>Cold start, answered.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159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472"/>
                </a:solidFill>
                <a:latin typeface="Helvetica Neue"/>
              </a:rPr>
              <a:t>Sell verification-request deflection to registrars and HR teams who field these requests for free today. Credentials enter the network as exhaust — the party who acts first finally captures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309"/>
                </a:solidFill>
                <a:latin typeface="Helvetica Neue"/>
              </a:rPr>
              <a:t>The honest risk: </a:t>
            </a:r>
            <a:r>
              <a:rPr sz="1250" b="0" i="0">
                <a:solidFill>
                  <a:srgbClr val="5B6472"/>
                </a:solidFill>
                <a:latin typeface="Helvetica Neue"/>
              </a:rPr>
              <a:t>most employers restrict manager references to dates and title. Our design makes evaluation structurally unrepresentable — factual, scoped attestations with the company as legal attester.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59669"/>
                </a:solidFill>
                <a:latin typeface="Helvetica Neue"/>
              </a:rPr>
              <a:t>ROADMAP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172A"/>
                </a:solidFill>
                <a:latin typeface="Helvetica Neue"/>
              </a:rPr>
              <a:t>Six weeks to demo. Then the metric that matters.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2860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Week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Helvetica Neue"/>
              </a:rPr>
              <a:t>Integration, end to end, with stubs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697480"/>
            <a:ext cx="219456" cy="164592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74136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22860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Week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Helvetica Neue"/>
              </a:rPr>
              <a:t>Demo: live resume → chain → ZK proof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0176" y="2697480"/>
            <a:ext cx="219456" cy="164592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1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2860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Helvetica Neue"/>
              </a:rPr>
              <a:t>First real issuer on an HRIS / SIS sandbox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05672" y="2697480"/>
            <a:ext cx="219456" cy="164592"/>
          </a:xfrm>
          <a:prstGeom prst="right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25128" y="21031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6" y="22860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Helvetica Neue"/>
              </a:rPr>
              <a:t>Month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26517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Helvetica Neue"/>
              </a:rPr>
              <a:t>Accredited issuers × auto-minted attestations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Helvetica Neue"/>
              </a:rPr>
              <a:t>The metric that matters: </a:t>
            </a:r>
            <a:r>
              <a:rPr sz="1400" b="0" i="0">
                <a:solidFill>
                  <a:srgbClr val="5B6472"/>
                </a:solidFill>
                <a:latin typeface="Helvetica Neue"/>
              </a:rPr>
              <a:t>accredited issuers × attestations auto-minted per month with zero human touch — and whether that number grows without sales touching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8646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Team A — Protocol &amp;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23036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Helvetica Neue"/>
              </a:rPr>
              <a:t>3–4 engineers · cryptography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5321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Helvetica Neue"/>
              </a:rPr>
              <a:t>Attestations, delegated authority, ZK chain proofs.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6824" y="466344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48646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Team B — Data &amp;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523036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Helvetica Neue"/>
              </a:rPr>
              <a:t>2–3 · data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55321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Helvetica Neue"/>
              </a:rPr>
              <a:t>Real institution graph from ORCID, ROR, DAPIP; edge weighting.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4663440"/>
            <a:ext cx="3566160" cy="1554480"/>
          </a:xfrm>
          <a:prstGeom prst="roundRect">
            <a:avLst>
              <a:gd name="adj" fmla="val 9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8646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Team C — Atlas &amp;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23036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4D399"/>
                </a:solidFill>
                <a:latin typeface="Helvetica Neue"/>
              </a:rPr>
              <a:t>2–3 · frontend / WebGL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5321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2B3"/>
                </a:solidFill>
                <a:latin typeface="Helvetica Neue"/>
              </a:rPr>
              <a:t>The living map + badge inspector that carry the pitch.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Sweesh — Investor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472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697480"/>
            <a:ext cx="822960" cy="685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Helvetica Neue"/>
              </a:rPr>
              <a:t>SWEESH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Helvetica Neue"/>
              </a:rPr>
              <a:t>Every line of a resume,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8A2B3"/>
                </a:solidFill>
                <a:latin typeface="Helvetica Neue"/>
              </a:rPr>
              <a:t>One badge. Verifiable end to end. Revealing nothing beyond the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2B3"/>
                </a:solidFill>
                <a:latin typeface="Helvetica Neue"/>
              </a:rPr>
              <a:t>Varun Sahni  ·  vs3606@nyu.edu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